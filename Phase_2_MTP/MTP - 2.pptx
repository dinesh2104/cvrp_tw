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Economica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Economic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conomic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conomica-boldItalic.fntdata"/><Relationship Id="rId30" Type="http://schemas.openxmlformats.org/officeDocument/2006/relationships/font" Target="fonts/Economica-italic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OpenSans-regular.fntdata"/><Relationship Id="rId13" Type="http://schemas.openxmlformats.org/officeDocument/2006/relationships/slide" Target="slides/slide8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7.xml"/><Relationship Id="rId34" Type="http://schemas.openxmlformats.org/officeDocument/2006/relationships/font" Target="fonts/OpenSans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d008ddd3d_4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d008ddd3d_4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d008ddd3d_4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d008ddd3d_4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d32f4e9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d32f4e9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d008ddd3d_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d008ddd3d_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d008ddd3d_4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d008ddd3d_4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d008ddd3d_4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d008ddd3d_4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d008ddd3d_4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d008ddd3d_4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3d32f4e9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3d32f4e9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3d32f4e9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3d32f4e9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3d32f4e9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3d32f4e9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d008ddd3d_4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d008ddd3d_4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3d32f4e9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3d32f4e9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3d32f4e9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3d32f4e9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3d32f4e9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3d32f4e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3d32f4e9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3d32f4e9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008ddd3d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d008ddd3d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008ddd3d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d008ddd3d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d008ddd3d_4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d008ddd3d_4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d008ddd3d_4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d008ddd3d_4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008ddd3d_4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d008ddd3d_4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008ddd3d_4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d008ddd3d_4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d008ddd3d_4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d008ddd3d_4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Formal Definition: CVRPTW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6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find the optimal routes for a fleet of vehicles to serve a set of customers, minimizing the total distance traveled and the number of vehicles used.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Components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Customers (I):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set of n customers, I = {1, 2,..., n}.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Depot: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central depot (node 0) where all routes start and end (node n+1).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Vehicles (K):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fleet of k identical vehicles.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Properties &amp; Constraints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Customer i 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(x_i, y_i)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Demand: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q_i &gt; 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 Time: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s_i (duration to unload)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Window: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[a_i, b_i] (Earliest and latest </a:t>
            </a:r>
            <a:r>
              <a:rPr i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time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service)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Each Vehicle k: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Capacity: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 &gt; 0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b="1"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Travel Time:</a:t>
            </a:r>
            <a:r>
              <a:rPr lang="en-GB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Ti,j (Euclidean distance from i to j customer)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880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Clustering Algorithm</a:t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575" y="503325"/>
            <a:ext cx="5943324" cy="4449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pharese the sentence properly"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350" y="181475"/>
            <a:ext cx="5376750" cy="425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575" y="152400"/>
            <a:ext cx="61130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55800" y="0"/>
            <a:ext cx="8520600" cy="6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Route Construction (Clark &amp; Wright)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375" y="527775"/>
            <a:ext cx="6066798" cy="4522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970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 Route Relocate Algorithm: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050" y="558486"/>
            <a:ext cx="6087225" cy="4480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is wrong the insertion cost is between dist(4,5)+(4,6) -dist(4,6)"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74550" y="9495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 Route </a:t>
            </a:r>
            <a:r>
              <a:rPr lang="en-GB"/>
              <a:t>Swap Algorithm</a:t>
            </a:r>
            <a:endParaRPr/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5350" y="622125"/>
            <a:ext cx="6121551" cy="441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/>
          <p:cNvPicPr preferRelativeResize="0"/>
          <p:nvPr/>
        </p:nvPicPr>
        <p:blipFill rotWithShape="1">
          <a:blip r:embed="rId3">
            <a:alphaModFix/>
          </a:blip>
          <a:srcRect b="3332" l="0" r="0" t="3332"/>
          <a:stretch/>
        </p:blipFill>
        <p:spPr>
          <a:xfrm>
            <a:off x="152400" y="152400"/>
            <a:ext cx="8919875" cy="4650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267600" y="10990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 Route </a:t>
            </a:r>
            <a:r>
              <a:rPr lang="en-GB"/>
              <a:t>2- Opt Star Operation</a:t>
            </a:r>
            <a:endParaRPr/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6400" y="585050"/>
            <a:ext cx="6243149" cy="4455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00" y="637475"/>
            <a:ext cx="8839201" cy="412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Intra Route Optimisation:</a:t>
            </a:r>
            <a:endParaRPr b="1"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875" y="1031450"/>
            <a:ext cx="5401021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Distance Comparison</a:t>
            </a:r>
            <a:endParaRPr/>
          </a:p>
        </p:txBody>
      </p:sp>
      <p:pic>
        <p:nvPicPr>
          <p:cNvPr id="151" name="Google Shape;1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825" y="1147225"/>
            <a:ext cx="6328242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Comparison</a:t>
            </a:r>
            <a:endParaRPr/>
          </a:p>
        </p:txBody>
      </p:sp>
      <p:pic>
        <p:nvPicPr>
          <p:cNvPr id="157" name="Google Shape;1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475" y="1266775"/>
            <a:ext cx="6328242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Vehicle Used Comparison</a:t>
            </a:r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050" y="1291400"/>
            <a:ext cx="6328242" cy="369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Average Route Length Comparison</a:t>
            </a:r>
            <a:endParaRPr/>
          </a:p>
        </p:txBody>
      </p:sp>
      <p:pic>
        <p:nvPicPr>
          <p:cNvPr id="169" name="Google Shape;16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775" y="1289800"/>
            <a:ext cx="6152458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Comparison of CVRPTW Phases by Sweep Angle</a:t>
            </a:r>
            <a:endParaRPr/>
          </a:p>
        </p:txBody>
      </p:sp>
      <p:pic>
        <p:nvPicPr>
          <p:cNvPr id="175" name="Google Shape;17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050" y="1389950"/>
            <a:ext cx="6152458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3850"/>
            <a:ext cx="8839200" cy="353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